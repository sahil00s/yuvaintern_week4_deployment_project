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67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4980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CD8E2"/>
                </a:solidFill>
                <a:latin typeface="Aptos"/>
              </a:rPr>
              <a:t>YUVAINTERN  •  WEEK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9875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AI Project Deployment
&amp;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3832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CE7F1"/>
                </a:solidFill>
                <a:latin typeface="Aptos"/>
              </a:rPr>
              <a:t>Wine Classifier Prediction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2D0DE"/>
                </a:solidFill>
                <a:latin typeface="Aptos"/>
              </a:rPr>
              <a:t>Model training  •  Joblib serialization  •  FastAPI  •  Automated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852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Prepared by Sahil Sant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263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7C28E"/>
                </a:solidFill>
                <a:latin typeface="Aptos"/>
              </a:rPr>
              <a:t>Educational dataset; class labels are cultivar categories, not quality grades.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7365D"/>
                </a:solidFill>
                <a:latin typeface="Aptos"/>
              </a:rPr>
              <a:t>Objective and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731520" cy="54864"/>
          </a:xfrm>
          <a:prstGeom prst="rect">
            <a:avLst/>
          </a:prstGeom>
          <a:solidFill>
            <a:srgbClr val="167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37181"/>
                </a:solidFill>
                <a:latin typeface="Aptos"/>
              </a:rPr>
              <a:t>Turn a trained classifier into a small, reusable prediction service.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37181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039112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67D9A"/>
                </a:solidFill>
                <a:latin typeface="Aptos"/>
              </a:rPr>
              <a:t>01  Prepare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487168"/>
            <a:ext cx="3154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73443"/>
                </a:solidFill>
                <a:latin typeface="Aptos"/>
              </a:rPr>
              <a:t>Export dataset, split data reproducibly, fit preprocessing and candidate models.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74519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2039112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67D9A"/>
                </a:solidFill>
                <a:latin typeface="Aptos"/>
              </a:rPr>
              <a:t>02  Evaluate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487168"/>
            <a:ext cx="3154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73443"/>
                </a:solidFill>
                <a:latin typeface="Aptos"/>
              </a:rPr>
              <a:t>Use 5-fold stratified cross-validation and held-out metrics to compare models.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74519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039112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67D9A"/>
                </a:solidFill>
                <a:latin typeface="Aptos"/>
              </a:rPr>
              <a:t>03  Serve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487168"/>
            <a:ext cx="3154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73443"/>
                </a:solidFill>
                <a:latin typeface="Aptos"/>
              </a:rPr>
              <a:t>Serialize the chosen pipeline and expose validated predictions through FastAPI.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754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17365D"/>
                </a:solidFill>
                <a:latin typeface="Aptos"/>
              </a:rPr>
              <a:t>Result: documented code, serialized artifact, prediction API, tests, setup guide, report and presentation.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7365D"/>
                </a:solidFill>
                <a:latin typeface="Aptos"/>
              </a:rPr>
              <a:t>Dataset and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731520" cy="54864"/>
          </a:xfrm>
          <a:prstGeom prst="rect">
            <a:avLst/>
          </a:prstGeom>
          <a:solidFill>
            <a:srgbClr val="167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37181"/>
                </a:solidFill>
                <a:latin typeface="Aptos"/>
              </a:rPr>
              <a:t>Scikit-learn Wine Recognition dataset; bundled with the library.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37181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783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67D9A"/>
                </a:solidFill>
                <a:latin typeface="Aptos"/>
              </a:rPr>
              <a:t>178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8716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37181"/>
                </a:solidFill>
                <a:latin typeface="Aptos"/>
              </a:rPr>
              <a:t>observations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828800"/>
            <a:ext cx="1783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0088" y="199339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67D9A"/>
                </a:solidFill>
                <a:latin typeface="Aptos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48716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37181"/>
                </a:solidFill>
                <a:latin typeface="Aptos"/>
              </a:rPr>
              <a:t>numeric features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1828800"/>
            <a:ext cx="1783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7488" y="199339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67D9A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48716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37181"/>
                </a:solidFill>
                <a:latin typeface="Aptos"/>
              </a:rPr>
              <a:t>dataset classes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95160" y="1828800"/>
            <a:ext cx="17830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04888" y="199339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67D9A"/>
                </a:solidFill>
                <a:latin typeface="Aptos"/>
              </a:rPr>
              <a:t>142 / 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48716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37181"/>
                </a:solidFill>
                <a:latin typeface="Aptos"/>
              </a:rPr>
              <a:t>train / test rows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429000"/>
            <a:ext cx="104241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73443"/>
                </a:solidFill>
                <a:latin typeface="Aptos"/>
              </a:defRPr>
            </a:pPr>
            <a:r>
              <a:t>Stratified 80/20 split with random_state=42 keeps class proportions comparable.</a:t>
            </a:r>
          </a:p>
          <a:p>
            <a:pPr>
              <a:spcAft>
                <a:spcPts val="1000"/>
              </a:spcAft>
              <a:defRPr sz="1600">
                <a:solidFill>
                  <a:srgbClr val="273443"/>
                </a:solidFill>
                <a:latin typeface="Aptos"/>
              </a:defRPr>
            </a:pPr>
            <a:r>
              <a:t>Logistic Regression uses StandardScaler inside a Pipeline; Random Forest is evaluated without scaling.</a:t>
            </a:r>
          </a:p>
          <a:p>
            <a:pPr>
              <a:spcAft>
                <a:spcPts val="1000"/>
              </a:spcAft>
              <a:defRPr sz="1600">
                <a:solidFill>
                  <a:srgbClr val="273443"/>
                </a:solidFill>
                <a:latin typeface="Aptos"/>
              </a:defRPr>
            </a:pPr>
            <a:r>
              <a:t>Five-fold StratifiedKFold is applied to training data; the test split is reserved for final reporting.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7365D"/>
                </a:solidFill>
                <a:latin typeface="Aptos"/>
              </a:rPr>
              <a:t>Results: Candidate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731520" cy="54864"/>
          </a:xfrm>
          <a:prstGeom prst="rect">
            <a:avLst/>
          </a:prstGeom>
          <a:solidFill>
            <a:srgbClr val="167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37181"/>
                </a:solidFill>
                <a:latin typeface="Aptos"/>
              </a:rPr>
              <a:t>Percentages are computed from the actual training run.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37181"/>
                </a:solidFill>
                <a:latin typeface="Aptos"/>
              </a:rPr>
              <a:t>04</a:t>
            </a:r>
          </a:p>
        </p:txBody>
      </p:sp>
      <p:pic>
        <p:nvPicPr>
          <p:cNvPr id="6" name="Picture 5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583680" cy="3657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60920" y="1783080"/>
            <a:ext cx="41148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194767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67D9A"/>
                </a:solidFill>
                <a:latin typeface="Aptos"/>
              </a:rPr>
              <a:t>Logistic 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395728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73443"/>
                </a:solidFill>
                <a:latin typeface="Aptos"/>
              </a:rPr>
              <a:t>CV accuracy: 97.91% ± 2.77%
Test accuracy: 97.22%
Macro F1: 97.10%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3429000"/>
            <a:ext cx="41148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359359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6A741"/>
                </a:solidFill>
                <a:latin typeface="Aptos"/>
              </a:rPr>
              <a:t>Random Forest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4041648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73443"/>
                </a:solidFill>
                <a:latin typeface="Aptos"/>
              </a:rPr>
              <a:t>CV accuracy: 97.91% ± 2.77%
Test accuracy: 100.00%
Macro F1: 100.00%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5120640"/>
            <a:ext cx="3886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37181"/>
                </a:solidFill>
                <a:latin typeface="Aptos"/>
              </a:rPr>
              <a:t>Selection: CV means tied, so the predefined tie-break favors the simpler Logistic Regression baseline—not the held-out test result.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7365D"/>
                </a:solidFill>
                <a:latin typeface="Aptos"/>
              </a:rPr>
              <a:t>Serialization and Request Lifecycle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731520" cy="54864"/>
          </a:xfrm>
          <a:prstGeom prst="rect">
            <a:avLst/>
          </a:prstGeom>
          <a:solidFill>
            <a:srgbClr val="167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37181"/>
                </a:solidFill>
                <a:latin typeface="Aptos"/>
              </a:rPr>
              <a:t>One fitted pipeline is reused for each request.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37181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23160"/>
            <a:ext cx="2286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167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6151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7365D"/>
                </a:solidFill>
                <a:latin typeface="Aptos"/>
              </a:rPr>
              <a:t>Client 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358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37181"/>
                </a:solidFill>
                <a:latin typeface="Aptos"/>
              </a:rPr>
              <a:t>13 numeric fields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743200"/>
            <a:ext cx="438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167D9A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2423160"/>
            <a:ext cx="2286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167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599" y="26151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7365D"/>
                </a:solidFill>
                <a:latin typeface="Aptos"/>
              </a:rPr>
              <a:t>Pydantic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599" y="30358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37181"/>
                </a:solidFill>
                <a:latin typeface="Aptos"/>
              </a:rPr>
              <a:t>validate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59" y="2743200"/>
            <a:ext cx="438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167D9A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423160"/>
            <a:ext cx="2286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167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6151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7365D"/>
                </a:solidFill>
                <a:latin typeface="Aptos"/>
              </a:rPr>
              <a:t>Joblib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0358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37181"/>
                </a:solidFill>
                <a:latin typeface="Aptos"/>
              </a:rPr>
              <a:t>scale + classify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32520" y="2743200"/>
            <a:ext cx="438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167D9A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59" y="2423160"/>
            <a:ext cx="2286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167D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19" y="26151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7365D"/>
                </a:solidFill>
                <a:latin typeface="Aptos"/>
              </a:rPr>
              <a:t>JSON response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19" y="303580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37181"/>
                </a:solidFill>
                <a:latin typeface="Aptos"/>
              </a:rPr>
              <a:t>class + probabilities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9768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73443"/>
                </a:solidFill>
                <a:latin typeface="Aptos"/>
              </a:defRPr>
            </a:pPr>
            <a:r>
              <a:t>Model: artifacts/wine_classifier.joblib</a:t>
            </a:r>
          </a:p>
          <a:p>
            <a:pPr>
              <a:spcAft>
                <a:spcPts val="700"/>
              </a:spcAft>
              <a:defRPr sz="1500">
                <a:solidFill>
                  <a:srgbClr val="273443"/>
                </a:solidFill>
                <a:latin typeface="Aptos"/>
              </a:defRPr>
            </a:pPr>
            <a:r>
              <a:t>Metadata: artifacts/model_metadata.json</a:t>
            </a:r>
          </a:p>
          <a:p>
            <a:pPr>
              <a:spcAft>
                <a:spcPts val="700"/>
              </a:spcAft>
              <a:defRPr sz="1500">
                <a:solidFill>
                  <a:srgbClr val="273443"/>
                </a:solidFill>
                <a:latin typeface="Aptos"/>
              </a:defRPr>
            </a:pPr>
            <a:r>
              <a:t>Training results and charts are saved reproducibly for inspection.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7365D"/>
                </a:solidFill>
                <a:latin typeface="Aptos"/>
              </a:rPr>
              <a:t>FastAPI Endpoints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731520" cy="54864"/>
          </a:xfrm>
          <a:prstGeom prst="rect">
            <a:avLst/>
          </a:prstGeom>
          <a:solidFill>
            <a:srgbClr val="167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37181"/>
                </a:solidFill>
                <a:latin typeface="Aptos"/>
              </a:rPr>
              <a:t>Interactive OpenAPI docs are available at /docs.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37181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737360"/>
            <a:ext cx="2834640" cy="594360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74519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GET  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86537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73443"/>
                </a:solidFill>
                <a:latin typeface="Aptos"/>
              </a:rPr>
              <a:t>Service info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651760"/>
            <a:ext cx="2834640" cy="594360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7889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GET  /health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77977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73443"/>
                </a:solidFill>
                <a:latin typeface="Aptos"/>
              </a:rPr>
              <a:t>Model readiness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566160"/>
            <a:ext cx="2834640" cy="594360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7033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GET  /model-info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369417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73443"/>
                </a:solidFill>
                <a:latin typeface="Aptos"/>
              </a:rPr>
              <a:t>Feature list and selected 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480560"/>
            <a:ext cx="2834640" cy="594360"/>
          </a:xfrm>
          <a:prstGeom prst="round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6177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POST  /predict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4608576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73443"/>
                </a:solidFill>
                <a:latin typeface="Aptos"/>
              </a:rPr>
              <a:t>Validated classification request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623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7D9A"/>
                </a:solidFill>
                <a:latin typeface="Aptos"/>
              </a:rPr>
              <a:t>Response includes predicted class ID, dataset class label, per-class probability estimates, and model name.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7365D"/>
                </a:solidFill>
                <a:latin typeface="Aptos"/>
              </a:rPr>
              <a:t>Verification and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24128"/>
            <a:ext cx="731520" cy="54864"/>
          </a:xfrm>
          <a:prstGeom prst="rect">
            <a:avLst/>
          </a:prstGeom>
          <a:solidFill>
            <a:srgbClr val="167D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37181"/>
                </a:solidFill>
                <a:latin typeface="Aptos"/>
              </a:rPr>
              <a:t>A runnable local API is included; public hosting is an optional next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637181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30175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4767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67D9A"/>
                </a:solidFill>
                <a:latin typeface="Aptos"/>
              </a:rPr>
              <a:t>Test suite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395728"/>
            <a:ext cx="265176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73443"/>
                </a:solidFill>
                <a:latin typeface="Aptos"/>
              </a:rPr>
              <a:t>4 automated tests passed:
health, model info, prediction, invalid input.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783080"/>
            <a:ext cx="30175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94767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6A741"/>
                </a:solidFill>
                <a:latin typeface="Aptos"/>
              </a:rPr>
              <a:t>API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395728"/>
            <a:ext cx="265176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73443"/>
                </a:solidFill>
                <a:latin typeface="Aptos"/>
              </a:rPr>
              <a:t>Predicted dataset class: class_0
Prediction probability: 99.97%
(one held-out sample)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1783080"/>
            <a:ext cx="30175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19" y="194767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67D9A"/>
                </a:solidFill>
                <a:latin typeface="Aptos"/>
              </a:rPr>
              <a:t>Documentation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19" y="2395728"/>
            <a:ext cx="2651760" cy="731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73443"/>
                </a:solidFill>
                <a:latin typeface="Aptos"/>
              </a:rPr>
              <a:t>Report (.docx), presentation (.pptx), README, requirements and deployment configs.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886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365D"/>
                </a:solidFill>
                <a:latin typeface="Aptos"/>
              </a:rPr>
              <a:t>Run locally from the repository root: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297680"/>
            <a:ext cx="6400800" cy="1417320"/>
          </a:xfrm>
          <a:prstGeom prst="roundRect">
            <a:avLst/>
          </a:prstGeom>
          <a:solidFill>
            <a:srgbClr val="ECF2F6"/>
          </a:solidFill>
          <a:ln>
            <a:solidFill>
              <a:srgbClr val="DA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498848"/>
            <a:ext cx="5943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73443"/>
                </a:solidFill>
                <a:latin typeface="Consolas"/>
              </a:rPr>
              <a:t>pip install -r requirements.txt
python -m ml.train
uvicorn app.main:app --reload
python -m pytest -q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466344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67D9A"/>
                </a:solidFill>
                <a:latin typeface="Aptos"/>
              </a:rPr>
              <a:t>Then visit http://127.0.0.1:8000/docs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02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CD8E2"/>
                </a:solidFill>
                <a:latin typeface="Aptos"/>
              </a:rPr>
              <a:t>The model is trained, serialized, served, and tested.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149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The API is ready to run locally with interactive docs and validated inputs.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Dockerfile and Render configuration provide a path to cloud deployment after repository connection.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Dataset is small and educational; 100% test accuracy for one model is not a guarantee of future performance.</a:t>
            </a:r>
          </a:p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ptos"/>
              </a:defRPr>
            </a:pPr>
            <a:r>
              <a:t>Class labels are cultivar categories, not wine-quality or safety assessments.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989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CD8E2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